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영웅호걸의 길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직감에서 데이터로, 투자판단의 전환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권유석  강찬휘  김경원  최경창  이원혁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영웅이  </a:t>
            </a:r>
            <a:pPr algn="ctr" indent="0" marL="0">
              <a:buNone/>
            </a:pPr>
            <a:r>
              <a:rPr lang="en-US" sz="2800" b="1" dirty="0">
                <a:solidFill>
                  <a:srgbClr val="5B9BD5"/>
                </a:solidFill>
              </a:rPr>
              <a:t>-78%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호걸이  </a:t>
            </a:r>
            <a:pPr algn="ctr" indent="0" marL="0">
              <a:buNone/>
            </a:pPr>
            <a:r>
              <a:rPr lang="en-US" sz="2800" b="1" dirty="0">
                <a:solidFill>
                  <a:srgbClr val="5B9BD5"/>
                </a:solidFill>
              </a:rPr>
              <a:t>-37%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"영웅아 호걸아 밥먹자~~"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주제 선정 배경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"의욕 넘치는 모습"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환경의 변화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물가상승률 증가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 및 원화 가치 하락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자산 보전을 위해 투자가 불가피해진 환경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743200" cy="2286000"/>
          </a:xfrm>
          <a:prstGeom prst="rect">
            <a:avLst/>
          </a:prstGeom>
          <a:solidFill>
            <a:srgbClr val="EAEAE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1887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월급쟁이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후회의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삼각 지대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'가만히 있으면 손해'라는 인식 속에서 준비없이 시장으로 유입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투자 행태 및 한계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비대칭성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감정적·충동적 의사결정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과도한 변동성 노출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체계적 리스크 관리의 어려움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743200" cy="2286000"/>
          </a:xfrm>
          <a:prstGeom prst="rect">
            <a:avLst/>
          </a:prstGeom>
          <a:solidFill>
            <a:srgbClr val="FD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1887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"2억을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투자한대"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변동성 환경에서 손실 리스크 증폭 → 투자 성과의 불안정성 확대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투자자가 활용 가능한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직관적·구조적 시장 판단 기준 부족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전체 흐름보다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단편적 정보에 의존한 투자 판단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743200" cy="10515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0" y="11887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뇌: "전혀 모르겠는데."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2331720"/>
            <a:ext cx="2743200" cy="10515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2331720"/>
            <a:ext cx="2743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눈: "전혀 모르겠어."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일관되지 않은 투자 판단으로 인한 리스크 상승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개인 투자자 의사결정 프레임워크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문제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"어디에 투자해야 할지 모르겠다"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단편적 정보와 뉴스에 의존한 판단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변동에 따른 감정적·충동적 매매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체계적인 리스크 관리 기준 부재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투자 판단이 일관되지 않고 재현 불가능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0000"/>
                </a:solidFill>
              </a:rPr>
              <a:t>→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미래 해결책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5087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"명확한 투자 구역이 보인다"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9659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: 머신러닝 분석을 통해 유망 섹터 식별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: 클러스터링을 통한 성향별 투자 그룹 제시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: 기술적 지표 기반 안정성과 리스크 검증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투자 판단이 직관이 아닌 구조와 기준에 기반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직감 아닌 데이터로, 영웅호걸을 위한 투자 지도를 그리다.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"영웅호걸의 시간은, 시장이 열릴 때가 아니라
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판단 기준을 세울 때 시작된다."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분석 및 전처리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"와 이거 진짜 재밌다"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전처리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(코드: 부록 참고)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데이터 정제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657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[데이터 행렬 : 602,962 x 9]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출처 : Massive Yahoo Finance Dataset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[데이터 행렬 : 843,513 x 12]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2024~2026 Massive Yahoo Finance </a:t>
            </a:r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API로 데이터 연장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Open, High, Low, Close, Volume, Dividends, Stock Splits, Company 등 9개 컬럼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전처리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(코드: 부록 참고)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파생변수 생성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657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[데이터 행렬 : 843,513 x </a:t>
            </a:r>
            <a:pPr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Log_Return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Volume_Log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수익률 및 모멘텀 (Daily_Return, Cum_Return, Return_1M/3M/6M)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기술적 지표 (RSI_14, Bollinger Bands, BB_Width)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거래량 및 수급 (Vol_Ratio, Vol_Z_Score, Log_Volume_W)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변동성 및 리스크 (Volatility_20d, Drawdown, MDD)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추세 지표 (MA_5 / 20 / 60)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전처리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(코드: 부록 참고)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머신러닝용 데이터셋 생성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1148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[데이터 행렬 : 602,553 x </a:t>
            </a:r>
            <a:pPr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패널데이터 특성상 이동평균선 등 일부 파생 변수 결측 발생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모델 학습의 일관성을 위해 해당 구간을 제거한 후 머신러닝 활용을 위한 데이터셋 생성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전처리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20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(코드: 부록 참고)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이상치 처리 및 보정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657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[데이터 행렬 : 843,513 x </a:t>
            </a:r>
            <a:pPr indent="0" marL="0">
              <a:buNone/>
            </a:pPr>
            <a:r>
              <a:rPr lang="en-US" sz="12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논리오류(고가&lt;저가), 데이터 누수, 정밀도(소수점 오차), 거래량 0 보정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데이터 누수 = A기업 종가가 B기업 수익률 계산에 반영 → 기업별 독립 연산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거래량 0 보정 = 식별 코드 및 실제 원 데이터 확인 후 실제값 매핑(14개 종목, 329건)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182880"/>
            <a:ext cx="4023360" cy="502920"/>
          </a:xfrm>
          <a:prstGeom prst="rect">
            <a:avLst/>
          </a:prstGeom>
          <a:solidFill>
            <a:srgbClr val="DCC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0" y="1828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Yahoo Finance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28600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원본데이터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647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12264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1226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59736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597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07208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07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546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02152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0215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Dividends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8496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Split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97096"/>
            <a:ext cx="2286000" cy="32918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970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API를 통한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데이터연장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914400"/>
            <a:ext cx="4754880" cy="4572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914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필요컬럼 및 파생변수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03520" y="1463040"/>
            <a:ext cx="1188720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 로그화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03520" y="1801368"/>
            <a:ext cx="1188720" cy="502920"/>
          </a:xfrm>
          <a:prstGeom prst="rect">
            <a:avLst/>
          </a:prstGeom>
          <a:solidFill>
            <a:srgbClr val="E8F0F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18013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Log_Return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75120" y="1463040"/>
            <a:ext cx="1188720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 로그화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75120" y="1801368"/>
            <a:ext cx="1188720" cy="502920"/>
          </a:xfrm>
          <a:prstGeom prst="rect">
            <a:avLst/>
          </a:prstGeom>
          <a:solidFill>
            <a:srgbClr val="E8F0F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8013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Volume_Log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863840" y="1463040"/>
            <a:ext cx="1188720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63840" y="1463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 및 모멘텀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863840" y="1801368"/>
            <a:ext cx="1188720" cy="502920"/>
          </a:xfrm>
          <a:prstGeom prst="rect">
            <a:avLst/>
          </a:prstGeom>
          <a:solidFill>
            <a:srgbClr val="E8F0F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18013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Daily_Return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Cum_Return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03520" y="2468880"/>
            <a:ext cx="1188720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지표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03520" y="2807208"/>
            <a:ext cx="1188720" cy="502920"/>
          </a:xfrm>
          <a:prstGeom prst="rect">
            <a:avLst/>
          </a:prstGeom>
          <a:solidFill>
            <a:srgbClr val="E8F0F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0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RSI_14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Bollinger Bands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75120" y="2468880"/>
            <a:ext cx="1188720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 및 수급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75120" y="2807208"/>
            <a:ext cx="1188720" cy="502920"/>
          </a:xfrm>
          <a:prstGeom prst="rect">
            <a:avLst/>
          </a:prstGeom>
          <a:solidFill>
            <a:srgbClr val="E8F0F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Vol_Ratio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Vol_Z_Score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863840" y="2468880"/>
            <a:ext cx="1188720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6384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변동성 및 리스크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863840" y="2807208"/>
            <a:ext cx="1188720" cy="502920"/>
          </a:xfrm>
          <a:prstGeom prst="rect">
            <a:avLst/>
          </a:prstGeom>
          <a:solidFill>
            <a:srgbClr val="E8F0F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0" y="28072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Volatility_20d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Drawdown, MDD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03520" y="3474720"/>
            <a:ext cx="1188720" cy="320040"/>
          </a:xfrm>
          <a:prstGeom prst="rect">
            <a:avLst/>
          </a:prstGeom>
          <a:solidFill>
            <a:srgbClr val="D6E4F0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추세지표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303520" y="3813048"/>
            <a:ext cx="1188720" cy="411480"/>
          </a:xfrm>
          <a:prstGeom prst="rect">
            <a:avLst/>
          </a:prstGeom>
          <a:solidFill>
            <a:srgbClr val="E8F0FE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0" y="38130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MA_5 / 20 / 60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머신러닝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"노력 많이 했어요"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분석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주도 섹터 선별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play?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60320" cy="2743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하이브리드 모델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+ XGBoost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2560320" cy="2743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패널 데이터 기준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2026년도 섹터별 순위 도출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 종목 구조 분석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Win?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965960"/>
            <a:ext cx="2560320" cy="2743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거래량, 변동성, 성과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063240"/>
            <a:ext cx="2560320" cy="2743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리스크, 리턴 분류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LL,LH,HL,HH 구분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내부구조 명확화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1051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투자 후보 선정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1417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Best?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1965960"/>
            <a:ext cx="2560320" cy="2743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9659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 군집 비교 및 리스크 평가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063240"/>
            <a:ext cx="2560320" cy="2743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3063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383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HH,LH 우수 산업 선정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실행가능한 투자 후보 제시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거시적 섹터 선택 시작 → 구조분석 및 상대 평가를 통한 실행가능한 투자 도출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모델 선정 배경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종목 x 시간 구조의 패널데이터 분석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종목별로 서로 다른 추세와 변동 패턴을 비교·해석할 필요 존재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정확도보다 구조적 이해와 설명 가능성을 중시해야 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시계열이나 단면 분석의 한계를 보완해야 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1463040"/>
          </a:xfrm>
          <a:prstGeom prst="rect">
            <a:avLst/>
          </a:prstGeom>
          <a:solidFill>
            <a:srgbClr val="F0F7FF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순위(Rank) 예측인가?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주가의 정밀한 값을 예측하는 것은 노이즈가 크고 실용성이 낮음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섹터 간 상대적 순위를 맞히는 것이 투자 의사결정에 더 직접적으로 연결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평가지표로 Spearman 상관계수(순위 상관)와 NDCG@5(상위 5개 순위 품질)를 채택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"어떤 섹터가 1등인가"가 아닌, "상위권 섹터를 얼마나 정확히 골라내는가"에 집중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예측보다 구조적 이해와 설명 가능성을 확보하기 위한 패널데이터 접근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PROPHET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특성 : 종목 x 시간 구조의 패널데이터 분석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 : 종목별로 서로 다른 추세와 변동 패턴을 비교·해석 필요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시계열이나 단면 분석의 한계를 보완하고, </a:t>
            </a:r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종목별 특성과 시간적 변화를 함께 고려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하기 위해 패널데이터 분석을 적용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특성 : 잔차 기반 패널데이터에서 비선형 패턴과 변수 간 상호작용이 시간에 따라 다르게 나타남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 : 규칙 기반 가정 없이 비선형 구조를 유연하게 학습할 수 있는 </a:t>
            </a:r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XGBOOST를 활용한 잔차 보정 모델링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추세 예측을 넘어 실제 투자 판단에 필요한 </a:t>
            </a:r>
            <a:pPr indent="0" marL="0">
              <a:buNone/>
            </a:pPr>
            <a:r>
              <a:rPr lang="en-US" sz="13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미세 성과 차이를 포착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+ XGBoost 잔차 보정 = 추세, 단기 변동 동시 반영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Clustering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특성: 섹터 내부 종목들은 동일 환경에서도 이질적인 성과 구조를 가짐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방법론: 구조 변수 기반 비지도 학습 클러스터링으로 </a:t>
            </a:r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성격 그룹화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목적: 섹터 내부 상대 성과 구분력 및 선택 정밀도 강화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클러스터링: 리스크 리턴 고려 5그룹 생성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고수익·고위험, 최우선 투자그룹, 투자주의, 분산투자, 투자회피 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섹터 단위 접근의 한계를 넘어, 종목 선택 단계 이전에서 </a:t>
            </a:r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필터링을 가능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하게 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클러스터링 = 최종 섹터·산업군 예측 결과 산출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성능평가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모델 : 최적 파라미터 적용 결과 </a:t>
            </a:r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(α=0.7, γ=0.25)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 36개 조합 탐색 → 기존 대비 NDCG@5 +8.44% 개선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2023~2025년 Top-5 평균 수익률 및 초과수익 개선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초과수익이 음수(-1.41%)에서 양수(+2.87%)로 전환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2020, 2021년 데이터를 기준으로 2022년 이후 기간을 순차적으로 확장하며 롤링 방식의 </a:t>
            </a:r>
            <a:pPr indent="0" marL="0">
              <a:buNone/>
            </a:pPr>
            <a:r>
              <a:rPr lang="en-US" sz="13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백테스트 수행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2606040"/>
            <a:ext cx="640080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백테스트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155448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Spearman 상관계수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-0.0636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0.1455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 적중률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 평균 수익률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-19.05%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Top-5 초과수익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-8.53%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-6.14%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+9.56%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+3.68%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NDCG@5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-1.5218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GridSearch 하이퍼파라미터 최적화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설계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(하이브리드 가중치) x γ (신뢰도 가중치)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x 6 = 36개 조합 전수 탐색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지표: NDCG@5 (백테스트 평균)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결과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3657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  <a:gridCol w="64008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NDCG@5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설정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최적 설정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29000"/>
            <a:ext cx="3657600" cy="4114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대비 +8.44% 개선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005840"/>
            <a:ext cx="438912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0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α=0.7(XGBoost 비중 70%) + γ=0.25(예측값 중심 랭킹) → 최적 조합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 모델 해석: XGBoost는 왜 이 섹터를 골랐는가?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05840"/>
            <a:ext cx="411480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0058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 특징 = 전체 기여도의 60.4%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1위 Prophet 전일예측값 (27.3%)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전일 예측 수준이 다음날 잔차 방향의 최대 단서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2위 20일 수익률 (18.1%)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4주간 중기 모멘텀이 보정의 핵심 기준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3위 5일 수익률 (15.0%)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1주 단기 반등/하락 신호 포착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520440"/>
            <a:ext cx="4114800" cy="137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0" y="3520440"/>
            <a:ext cx="4297680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54880" y="3566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섹터별 차별 패턴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필수소비재: 추세 지속성 최고 (예측값 0.078)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에너지: 단기 모멘텀 의존 (유가 충격 반영)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금융: 모멘텀 + 밴드 트레이딩 (금리 환경)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헬스케어: 중기 모멘텀 주도 (규제/임상 이벤트)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직감에서 데이터로, 투자판단의 전환</dc:title>
  <dc:subject>PptxGenJS Presentation</dc:subject>
  <dc:creator>권유석</dc:creator>
  <cp:lastModifiedBy>권유석</cp:lastModifiedBy>
  <cp:revision>1</cp:revision>
  <dcterms:created xsi:type="dcterms:W3CDTF">2026-03-16T07:42:33Z</dcterms:created>
  <dcterms:modified xsi:type="dcterms:W3CDTF">2026-03-16T07:42:33Z</dcterms:modified>
</cp:coreProperties>
</file>